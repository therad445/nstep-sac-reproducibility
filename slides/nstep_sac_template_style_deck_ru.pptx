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Открытие: это не SOTA claim, а аккуратная bounded reproduction и ablation study. Вопрос — помогает ли n-step target SAC при ограниченном compute.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Сначала мотивация, затем коротко алгоритм, потом результаты и честные ограничения.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Объяснить на пальцах: n-step может быстрее тащить награду назад, но в off-policy алгоритме длинный фрагмент менее соответствует текущей политике.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Позиционировать работу как проверку механизма из SACn/T-SAC, а не как полную репликацию.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Слайд-перебивка: от литературы к моей проверке.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Формула — главный смысл: не меняем весь алгоритм, меняем горизонт цели критика.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Пояснить, что это центральный участок кода. При n=1 поведение стандартное, поэтому сравнение чистое.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Ограничение стоит проговорить заранее: это звучит честно и контролируемо.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переоценивать Pendulum. Он проверяет, что пайплайн работает.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Центральный слайд. Разница видна: n=3 лучше, n=5 провалился.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вывод: horizon — stability parameter.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Ограничения — это сила защиты: узкий claim, реальные данные, без overclaim.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для обсуждения: короткие ответы на ожидаемые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Закончить и перейти к вопросам. Если спрашивают про novelty — повторить bounded reproduction framing.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tc_assets/title_clea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234440"/>
            <a:ext cx="4480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38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Стресс-тест</a:t>
            </a:r>
            <a:endParaRPr lang="en-US" sz="3800" dirty="0"/>
          </a:p>
          <a:p>
            <a:pPr algn="l" indent="0" marL="0">
              <a:lnSpc>
                <a:spcPct val="78000"/>
              </a:lnSpc>
              <a:buNone/>
            </a:pPr>
            <a:r>
              <a:rPr lang="en-US" sz="38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n-step Soft</a:t>
            </a:r>
            <a:endParaRPr lang="en-US" sz="3800" dirty="0"/>
          </a:p>
          <a:p>
            <a:pPr algn="l" indent="0" marL="0">
              <a:lnSpc>
                <a:spcPct val="78000"/>
              </a:lnSpc>
              <a:buNone/>
            </a:pPr>
            <a:r>
              <a:rPr lang="en-US" sz="38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Actor-Critic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02920" y="3730752"/>
            <a:ext cx="443484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1792" y="390448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reproduction и ablation study при ограниченном compute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005840" y="5532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final project • Радмир И.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577840" y="5806440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0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Вопрос: помогает ли n-step credit assignment в SAC — и когда он ломает устойчивость?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tc_assets/mtc_logo_top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0"/>
            <a:ext cx="758952" cy="7132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72" y="6473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n-step SAC final project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1795760" y="64922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02920" y="50292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40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</a:t>
            </a:r>
            <a:endParaRPr lang="en-US" sz="4000" dirty="0"/>
          </a:p>
          <a:p>
            <a:pPr algn="l" indent="0" marL="0">
              <a:lnSpc>
                <a:spcPct val="78000"/>
              </a:lnSpc>
              <a:buNone/>
            </a:pPr>
            <a:r>
              <a:rPr lang="en-US" sz="40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доклада</a:t>
            </a:r>
            <a:endParaRPr lang="en-US" sz="4000" dirty="0"/>
          </a:p>
        </p:txBody>
      </p:sp>
      <p:pic>
        <p:nvPicPr>
          <p:cNvPr id="6" name="Image 1" descr="/mnt/data/mtc_assets/question_3d_group.png">    </p:cNvPr>
          <p:cNvPicPr>
            <a:picLocks noChangeAspect="1"/>
          </p:cNvPicPr>
          <p:nvPr/>
        </p:nvPicPr>
        <p:blipFill>
          <a:blip r:embed="rId2">
            <a:alphaModFix amt="94000"/>
          </a:blip>
          <a:stretch>
            <a:fillRect/>
          </a:stretch>
        </p:blipFill>
        <p:spPr>
          <a:xfrm>
            <a:off x="6583680" y="914400"/>
            <a:ext cx="5303520" cy="3840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4360" y="19659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960120" y="196596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Какую проблему я проверял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960120" y="225856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5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assignment в off-policy SAC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94360" y="27157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960120" y="271576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меняется в коде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960120" y="300837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5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n-step buffer перед replay buffer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94360" y="346557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960120" y="3465576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получилось в экспериментах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960120" y="375818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5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Pendulum sanity + HalfCheetah ablation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94360" y="421538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960120" y="421538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можно честно утверждать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960120" y="450799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5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n=3 помог здесь, n=5 провалился здесь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tc_assets/mtc_logo_top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0"/>
            <a:ext cx="758952" cy="7132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228600"/>
            <a:ext cx="5715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4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Мотивация:</a:t>
            </a:r>
            <a:endParaRPr lang="en-US" sz="34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34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assignment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47472" y="148132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Короткий target безопаснее. Длинный может учиться быстрее — или ломаться.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47472" y="6473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n-step SAC final project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795760" y="64922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pic>
        <p:nvPicPr>
          <p:cNvPr id="7" name="Image 1" descr="/mnt/data/mtc_assets/right_corner_3d.png">    </p:cNvPr>
          <p:cNvPicPr>
            <a:picLocks noChangeAspect="1"/>
          </p:cNvPicPr>
          <p:nvPr/>
        </p:nvPicPr>
        <p:blipFill>
          <a:blip r:embed="rId2">
            <a:alphaModFix amt="92000"/>
          </a:blip>
          <a:stretch>
            <a:fillRect/>
          </a:stretch>
        </p:blipFill>
        <p:spPr>
          <a:xfrm>
            <a:off x="9829800" y="4800600"/>
            <a:ext cx="2331720" cy="19659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38912" y="1920240"/>
            <a:ext cx="73152" cy="1097280"/>
          </a:xfrm>
          <a:prstGeom prst="rect">
            <a:avLst/>
          </a:prstGeom>
          <a:solidFill>
            <a:srgbClr val="FF00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58368" y="1938528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1-step targets стабильны, но награда распространяется назад медленно.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658368" y="263347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n-step returns могут быстрее передавать reward signal.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658368" y="3328416"/>
            <a:ext cx="5715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Проблема: SAC — off-policy, поэтому длинные фрагменты из replay могут добавлять bias и variance.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76656" y="46177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напряжение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58368" y="49560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efficiency  ↔  stability</a:t>
            </a:r>
            <a:endParaRPr lang="en-US" sz="2900" dirty="0"/>
          </a:p>
        </p:txBody>
      </p:sp>
      <p:sp>
        <p:nvSpPr>
          <p:cNvPr id="14" name="Text 10"/>
          <p:cNvSpPr/>
          <p:nvPr/>
        </p:nvSpPr>
        <p:spPr>
          <a:xfrm>
            <a:off x="676656" y="555955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5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фокус проекта: горизонты n = 1, 3, 5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tc_assets/mtc_logo_top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0"/>
            <a:ext cx="758952" cy="7132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228600"/>
            <a:ext cx="5715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4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</a:t>
            </a:r>
            <a:endParaRPr lang="en-US" sz="34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34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литературе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47472" y="148132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не новая статья с алгоритмом, а маленькая проверка центрального механизма.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47472" y="6473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n-step SAC final project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795760" y="64922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2057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500" b="1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24871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5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сильный off-policy</a:t>
            </a:r>
            <a:endParaRPr lang="en-US" sz="135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35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688336" y="26974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063240" y="2057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500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n-step SAC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3063240" y="24871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5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длиннее critic</a:t>
            </a:r>
            <a:endParaRPr lang="en-US" sz="135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35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202936" y="26974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577840" y="2057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500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SACn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5577840" y="24871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5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35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35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коррекции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717536" y="26974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092440" y="2057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500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T-SAC</a:t>
            </a:r>
            <a:endParaRPr lang="en-US" sz="2500" dirty="0"/>
          </a:p>
        </p:txBody>
      </p:sp>
      <p:sp>
        <p:nvSpPr>
          <p:cNvPr id="17" name="Text 14"/>
          <p:cNvSpPr/>
          <p:nvPr/>
        </p:nvSpPr>
        <p:spPr>
          <a:xfrm>
            <a:off x="8092440" y="24871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5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 chunks</a:t>
            </a:r>
            <a:endParaRPr lang="en-US" sz="135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35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critic context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48640" y="40690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3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Этот проект: small-compute ablation naive n-step SAC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566928" y="4572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 n=1 vs n=3 vs n=5, одинаковые гиперпараметры, один seed.</a:t>
            </a:r>
            <a:endParaRPr lang="en-US" sz="1500" dirty="0"/>
          </a:p>
        </p:txBody>
      </p:sp>
      <p:pic>
        <p:nvPicPr>
          <p:cNvPr id="20" name="Image 1" descr="/mnt/data/mtc_assets/purple_bottom_objects.png">    </p:cNvPr>
          <p:cNvPicPr>
            <a:picLocks noChangeAspect="1"/>
          </p:cNvPicPr>
          <p:nvPr/>
        </p:nvPicPr>
        <p:blipFill>
          <a:blip r:embed="rId2">
            <a:alphaModFix amt="92000"/>
          </a:blip>
          <a:stretch>
            <a:fillRect/>
          </a:stretch>
        </p:blipFill>
        <p:spPr>
          <a:xfrm>
            <a:off x="8549640" y="4800600"/>
            <a:ext cx="32918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tc_assets/mtc_logo_top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0"/>
            <a:ext cx="758952" cy="7132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72" y="6473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n-step SAC final project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1795760" y="64922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530352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42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</a:t>
            </a:r>
            <a:endParaRPr lang="en-US" sz="4200" dirty="0"/>
          </a:p>
          <a:p>
            <a:pPr algn="l" indent="0" marL="0">
              <a:lnSpc>
                <a:spcPct val="78000"/>
              </a:lnSpc>
              <a:buNone/>
            </a:pPr>
            <a:r>
              <a:rPr lang="en-US" sz="42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ПРОВЕРЯЛ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30352" y="2176272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0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SAC-реализация.</a:t>
            </a:r>
            <a:endParaRPr lang="en-US" sz="19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90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Меняется только горизонт critic target.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66928" y="3886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783080" y="3959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" y="4526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3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783080" y="45994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умеренный горизонт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" y="5166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5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783080" y="52395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более рискованный target</a:t>
            </a:r>
            <a:endParaRPr lang="en-US" sz="1200" dirty="0"/>
          </a:p>
        </p:txBody>
      </p:sp>
      <p:pic>
        <p:nvPicPr>
          <p:cNvPr id="13" name="Image 1" descr="/mnt/data/mtc_assets/purple_bottom_objec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3337560"/>
            <a:ext cx="667512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tc_assets/mtc_logo_top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0"/>
            <a:ext cx="758952" cy="7132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228600"/>
            <a:ext cx="5715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4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1-step</a:t>
            </a:r>
            <a:endParaRPr lang="en-US" sz="34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34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n-step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47472" y="148132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 update тот же, меняется critic target.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47472" y="6473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n-step SAC final project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795760" y="64922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94360" y="1965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1-step target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94360" y="24231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600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Gₜ = rₜ + γ V(sₜ₊₁)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94360" y="3703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n-step target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94360" y="41605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500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Gₜ⁽ⁿ⁾ = rₜ + γrₜ₊₁ + … + γⁿV(sₜ₊ₙ)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731520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Плюс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0" y="24231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быстрее проходит reward signal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315200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315200" y="37033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off-policy bias и target variance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94360" y="58064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проекте n — это stability parameter, а не просто ручка «сделать больше».</a:t>
            </a:r>
            <a:endParaRPr lang="en-US" sz="1600" dirty="0"/>
          </a:p>
        </p:txBody>
      </p:sp>
      <p:pic>
        <p:nvPicPr>
          <p:cNvPr id="16" name="Image 1" descr="/mnt/data/mtc_assets/right_corner_3d.png">    </p:cNvPr>
          <p:cNvPicPr>
            <a:picLocks noChangeAspect="1"/>
          </p:cNvPicPr>
          <p:nvPr/>
        </p:nvPicPr>
        <p:blipFill>
          <a:blip r:embed="rId2">
            <a:alphaModFix amt="92000"/>
          </a:blip>
          <a:stretch>
            <a:fillRect/>
          </a:stretch>
        </p:blipFill>
        <p:spPr>
          <a:xfrm>
            <a:off x="10149840" y="4983480"/>
            <a:ext cx="192024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tc_assets/mtc_logo_top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0"/>
            <a:ext cx="758952" cy="7132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228600"/>
            <a:ext cx="5715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4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Код:</a:t>
            </a:r>
            <a:endParaRPr lang="en-US" sz="34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34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n-step buffer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47472" y="148132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Изменение происходит до replay buffer.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47472" y="6473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n-step SAC final project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795760" y="64922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685800" y="1828800"/>
            <a:ext cx="5806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0E0E0">
                <a:alpha val="9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2148840"/>
            <a:ext cx="5303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1700" dirty="0">
                <a:solidFill>
                  <a:srgbClr val="202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reward_n = r_t + γ r_{t+1} + ... + γ^{n-1} r_{t+n-1}</a:t>
            </a:r>
            <a:endParaRPr lang="en-US" sz="1700" dirty="0"/>
          </a:p>
          <a:p>
            <a:pPr algn="l" indent="0" marL="0">
              <a:lnSpc>
                <a:spcPct val="87000"/>
              </a:lnSpc>
              <a:buNone/>
            </a:pPr>
            <a:r>
              <a:rPr lang="en-US" sz="1700" dirty="0">
                <a:solidFill>
                  <a:srgbClr val="202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discount_n = γ^k</a:t>
            </a:r>
            <a:endParaRPr lang="en-US" sz="1700" dirty="0"/>
          </a:p>
          <a:p>
            <a:pPr algn="l" indent="0" marL="0">
              <a:lnSpc>
                <a:spcPct val="87000"/>
              </a:lnSpc>
              <a:buNone/>
            </a:pPr>
            <a:r>
              <a:rPr lang="en-US" sz="1700" dirty="0">
                <a:solidFill>
                  <a:srgbClr val="202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next_state = s_{t+k}</a:t>
            </a:r>
            <a:endParaRPr lang="en-US" sz="1700" dirty="0"/>
          </a:p>
          <a:p>
            <a:pPr algn="l" indent="0" marL="0">
              <a:lnSpc>
                <a:spcPct val="87000"/>
              </a:lnSpc>
              <a:buNone/>
            </a:pPr>
            <a:endParaRPr lang="en-US" sz="1700" dirty="0"/>
          </a:p>
          <a:p>
            <a:pPr algn="l" indent="0" marL="0">
              <a:lnSpc>
                <a:spcPct val="87000"/>
              </a:lnSpc>
              <a:buNone/>
            </a:pPr>
            <a:r>
              <a:rPr lang="en-US" sz="1700" dirty="0">
                <a:solidFill>
                  <a:srgbClr val="202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= reward_n + discount_n * (</a:t>
            </a:r>
            <a:endParaRPr lang="en-US" sz="1700" dirty="0"/>
          </a:p>
          <a:p>
            <a:pPr algn="l" indent="0" marL="0">
              <a:lnSpc>
                <a:spcPct val="87000"/>
              </a:lnSpc>
              <a:buNone/>
            </a:pPr>
            <a:r>
              <a:rPr lang="en-US" sz="1700" dirty="0">
                <a:solidFill>
                  <a:srgbClr val="202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min_Q_target(next_state, a) - α log π(a|next_state)</a:t>
            </a:r>
            <a:endParaRPr lang="en-US" sz="1700" dirty="0"/>
          </a:p>
          <a:p>
            <a:pPr algn="l" indent="0" marL="0">
              <a:lnSpc>
                <a:spcPct val="87000"/>
              </a:lnSpc>
              <a:buNone/>
            </a:pPr>
            <a:r>
              <a:rPr lang="en-US" sz="1700" dirty="0">
                <a:solidFill>
                  <a:srgbClr val="202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995160" y="19202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n=1 это превращается в обычный SAC.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086600" y="2743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5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state режет окно раньше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086600" y="3246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5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длинные окна меняют scale target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086600" y="3749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5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гиперпараметры одинаковые для всех 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995160" y="48006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компактная реализация для ablation, не полная SACn/T-SAC reproduction.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tc_assets/mtc_logo_top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0"/>
            <a:ext cx="758952" cy="7132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228600"/>
            <a:ext cx="5715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4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Экспериментальный</a:t>
            </a:r>
            <a:endParaRPr lang="en-US" sz="34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34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стенд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47472" y="148132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Small-compute специально: достаточно, чтобы проверить механизм.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47472" y="6473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n-step SAC final project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795760" y="64922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8580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Среда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834640" y="1920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Шаги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6052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Pendulum-v1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283464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30,000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16052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sanity check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85800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HalfCheetah-v5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2834640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160520" y="29718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benchmark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85800" y="3886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b="1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85800" y="42976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Ryzen 5700 laptop • WSL Ubuntu • CPU training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85800" y="4892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b="1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85800" y="528523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policy, 5 episodes, periodic CSV logging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360920" y="19202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Честное ограничение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7360920" y="233172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Single-seed runs — это evidence of a trend, а не статистическое доказательство.</a:t>
            </a:r>
            <a:endParaRPr lang="en-US" sz="1700" dirty="0"/>
          </a:p>
        </p:txBody>
      </p:sp>
      <p:pic>
        <p:nvPicPr>
          <p:cNvPr id="22" name="Image 1" descr="/mnt/data/mtc_assets/right_corner_3d.png">    </p:cNvPr>
          <p:cNvPicPr>
            <a:picLocks noChangeAspect="1"/>
          </p:cNvPicPr>
          <p:nvPr/>
        </p:nvPicPr>
        <p:blipFill>
          <a:blip r:embed="rId2">
            <a:alphaModFix amt="92000"/>
          </a:blip>
          <a:stretch>
            <a:fillRect/>
          </a:stretch>
        </p:blipFill>
        <p:spPr>
          <a:xfrm>
            <a:off x="9784080" y="4892040"/>
            <a:ext cx="22860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tc_assets/mtc_logo_top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0"/>
            <a:ext cx="758952" cy="7132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228600"/>
            <a:ext cx="5715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4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Pendulum-v1:</a:t>
            </a:r>
            <a:endParaRPr lang="en-US" sz="34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34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sanity check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47472" y="148132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варианты сходятся: n-step target code не выглядит сломанным.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47472" y="6473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n-step SAC final project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795760" y="64922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  <p:pic>
        <p:nvPicPr>
          <p:cNvPr id="7" name="Image 1" descr="/mnt/data/pendulum_learning_curves_r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15922"/>
            <a:ext cx="6720840" cy="34948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43800" y="1737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00" b="1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Разбор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7635240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5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варианты обучаются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63524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5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финальное качество близкое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635240" y="3429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5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n=3 быстро выходит на хороший return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543800" y="4617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sanity check, не главный эксперимент.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tc_assets/mtc_logo_top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0"/>
            <a:ext cx="758952" cy="7132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228600"/>
            <a:ext cx="5715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4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HalfCheetah-v5:</a:t>
            </a:r>
            <a:endParaRPr lang="en-US" sz="34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34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ablation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47472" y="148132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Умеренный горизонт помогает; длинный ломается при тех же настройках.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47472" y="6473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n-step SAC final project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795760" y="64922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pic>
        <p:nvPicPr>
          <p:cNvPr id="7" name="Image 1" descr="/mnt/data/halfcheetah_learning_curves_r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050999"/>
            <a:ext cx="7498080" cy="38990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66760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b="1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4354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8366760" y="2167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 n=1 final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366760" y="2743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4579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8366760" y="32186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 n=3 final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8366760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b="1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764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8366760" y="42702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 n=5 final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8275320" y="528523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5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результат: n=3 учится быстрее и даёт лучший final return.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tc_assets/mtc_logo_top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0"/>
            <a:ext cx="758952" cy="7132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228600"/>
            <a:ext cx="5715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4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Разбор:</a:t>
            </a:r>
            <a:endParaRPr lang="en-US" sz="34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34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горизонт важен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47472" y="148132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Самое полезное — failure mode, а не только лучший score.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47472" y="6473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n-step SAC final project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795760" y="64922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  <p:pic>
        <p:nvPicPr>
          <p:cNvPr id="7" name="Image 1" descr="/mnt/data/mtc_assets/right_corner_3d.png">    </p:cNvPr>
          <p:cNvPicPr>
            <a:picLocks noChangeAspect="1"/>
          </p:cNvPicPr>
          <p:nvPr/>
        </p:nvPicPr>
        <p:blipFill>
          <a:blip r:embed="rId2">
            <a:alphaModFix amt="92000"/>
          </a:blip>
          <a:stretch>
            <a:fillRect/>
          </a:stretch>
        </p:blipFill>
        <p:spPr>
          <a:xfrm>
            <a:off x="9829800" y="4800600"/>
            <a:ext cx="2331720" cy="19659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874520"/>
            <a:ext cx="73152" cy="2377440"/>
          </a:xfrm>
          <a:prstGeom prst="rect">
            <a:avLst/>
          </a:prstGeom>
          <a:solidFill>
            <a:srgbClr val="FF00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68680" y="19202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n=3 пересекает return ≥3000 раньше, чем n=1.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68680" y="2606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n=1 остаётся сильным baseline.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868680" y="3291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00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n=5 не выходит в high-return behavior.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868680" y="4160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is not automatically better.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896112" y="4800600"/>
            <a:ext cx="5715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Умеренный n-step credit assignment может помочь, но naive longer target может дестабилизировать off-policy SAC.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tc_assets/mtc_logo_top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0"/>
            <a:ext cx="758952" cy="7132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228600"/>
            <a:ext cx="5715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4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Слабые места</a:t>
            </a:r>
            <a:endParaRPr lang="en-US" sz="34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34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ограничения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47472" y="148132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полезен именно потому, что claim узкий.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47472" y="6473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n-step SAC final project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795760" y="64922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31520" y="1828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00" b="1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22960" y="235915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5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seed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798064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5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две среды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3236976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5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полной T-SAC reproduction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367588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5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SACn correction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41148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5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одинаковые hyperparameters для всех horizons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" y="455371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5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ограниченный laptop CPU compute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00800" y="1828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00" b="1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Чего я не утверждаю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492240" y="2359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5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state of the art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92240" y="28620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5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доказательство, что n=3 всегда лучший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92240" y="33649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5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доказательство, что n=5 всегда проваливается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00800" y="46177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5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Корректный claim: в этом limited-compute setting n=3 улучшил HalfCheetah learning; n=5 провалился при тех же гиперпараметрах.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tc_assets/mtc_logo_top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0"/>
            <a:ext cx="758952" cy="7132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72" y="6473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n-step SAC final project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1795760" y="64922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40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Вероятные</a:t>
            </a:r>
            <a:endParaRPr lang="en-US" sz="4000" dirty="0"/>
          </a:p>
          <a:p>
            <a:pPr algn="l" indent="0" marL="0">
              <a:lnSpc>
                <a:spcPct val="78000"/>
              </a:lnSpc>
              <a:buNone/>
            </a:pPr>
            <a:r>
              <a:rPr lang="en-US" sz="40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</a:t>
            </a:r>
            <a:endParaRPr lang="en-US" sz="4000" dirty="0"/>
          </a:p>
        </p:txBody>
      </p:sp>
      <p:pic>
        <p:nvPicPr>
          <p:cNvPr id="6" name="Image 1" descr="/mnt/data/mtc_assets/question_3d_group.png">    </p:cNvPr>
          <p:cNvPicPr>
            <a:picLocks noChangeAspect="1"/>
          </p:cNvPicPr>
          <p:nvPr/>
        </p:nvPicPr>
        <p:blipFill>
          <a:blip r:embed="rId2">
            <a:alphaModFix amt="82000"/>
          </a:blip>
          <a:stretch>
            <a:fillRect/>
          </a:stretch>
        </p:blipFill>
        <p:spPr>
          <a:xfrm>
            <a:off x="8686800" y="1828800"/>
            <a:ext cx="3108960" cy="2743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b="1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SAC?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2834640" y="20116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Сильный off-policy baseline; совпадает с n-step проблемой.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4008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b="1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n=5 провалился?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3337560" y="2743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Вероятно bias/variance + те же hyperparameters.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0080" y="3474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b="1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ли сказать, что n=3 лучший?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069080" y="3474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universal claim. Только этот setting.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0080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b="1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шаг?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283464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seeds, больше MuJoCo envs, потом SACn/T-SAC variants.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94360" y="53492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Линия защиты: bounded reproduction, real ablation, honest limitations.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tc_assets/thanks_clea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8912" y="1207008"/>
            <a:ext cx="3611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30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</a:t>
            </a:r>
            <a:endParaRPr lang="en-US" sz="3000" dirty="0"/>
          </a:p>
          <a:p>
            <a:pPr algn="l" indent="0" marL="0">
              <a:lnSpc>
                <a:spcPct val="78000"/>
              </a:lnSpc>
              <a:buNone/>
            </a:pPr>
            <a:r>
              <a:rPr lang="en-US" sz="30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ВНИМАНИЕ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66928" y="3337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dirty="0">
                <a:solidFill>
                  <a:srgbClr val="2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94360" y="48463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0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Repo: Therad445/nstep-sac-reproducibility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52120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00" dirty="0">
                <a:solidFill>
                  <a:srgbClr val="5B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final project • bounded reproduction + ablation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HSE / RL 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Стресс-тест n-step SAC при ограниченном compute</dc:title>
  <dc:subject>n-step Soft Actor-Critic final project</dc:subject>
  <dc:creator>Радмир И.</dc:creator>
  <cp:lastModifiedBy>Радмир И.</cp:lastModifiedBy>
  <cp:revision>1</cp:revision>
  <dcterms:created xsi:type="dcterms:W3CDTF">2026-06-15T08:15:51Z</dcterms:created>
  <dcterms:modified xsi:type="dcterms:W3CDTF">2026-06-15T08:15:51Z</dcterms:modified>
</cp:coreProperties>
</file>